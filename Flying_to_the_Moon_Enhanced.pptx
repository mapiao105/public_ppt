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Flying to the Moon!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Unit 5 Reading - Cause &amp; Effect</a:t>
            </a:r>
          </a:p>
          <a:p>
            <a:r>
              <a:t>[Your Name/School]</a:t>
            </a:r>
          </a:p>
          <a:p>
            <a:r>
              <a:t>(Background: Universe &amp; Moon Image Placeholder)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82880"/>
            <a:ext cx="9144000" cy="274320"/>
          </a:xfrm>
          <a:prstGeom prst="rect">
            <a:avLst/>
          </a:prstGeom>
          <a:solidFill>
            <a:srgbClr val="3250B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Learning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✓ Understand a diary about a trip to the Moon.</a:t>
            </a:r>
          </a:p>
          <a:p>
            <a:r>
              <a:t>✓ Learn cause &amp; effect with because/so.</a:t>
            </a:r>
          </a:p>
          <a:p>
            <a:r>
              <a:t>✓ Imagine and share your own space ideas!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82880"/>
            <a:ext cx="9144000" cy="274320"/>
          </a:xfrm>
          <a:prstGeom prst="rect">
            <a:avLst/>
          </a:prstGeom>
          <a:solidFill>
            <a:srgbClr val="3250B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Warm-up: Guess!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🎬 (Video Placeholder: Moon Walk)</a:t>
            </a:r>
          </a:p>
          <a:p/>
          <a:p>
            <a:r>
              <a:t>1. Why is he jumping so high?</a:t>
            </a:r>
          </a:p>
          <a:p>
            <a:r>
              <a:t>2. Why is he wearing a spacesuit?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82880"/>
            <a:ext cx="9144000" cy="274320"/>
          </a:xfrm>
          <a:prstGeom prst="rect">
            <a:avLst/>
          </a:prstGeom>
          <a:solidFill>
            <a:srgbClr val="3250B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Pre-reading: My Moon Bag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If you go to the Moon, what 3 things will you take? Why?</a:t>
            </a:r>
          </a:p>
          <a:p>
            <a:r>
              <a:t>Discuss for 1 minute!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82880"/>
            <a:ext cx="9144000" cy="274320"/>
          </a:xfrm>
          <a:prstGeom prst="rect">
            <a:avLst/>
          </a:prstGeom>
          <a:solidFill>
            <a:srgbClr val="3250B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Fast 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Match each paragraph with its BEST mood &amp; idea.</a:t>
            </a:r>
          </a:p>
          <a:p>
            <a:r>
              <a:t>(Insert matching table placeholder.)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82880"/>
            <a:ext cx="9144000" cy="274320"/>
          </a:xfrm>
          <a:prstGeom prst="rect">
            <a:avLst/>
          </a:prstGeom>
          <a:solidFill>
            <a:srgbClr val="3250B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Let's Check!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P1 → 🤩 Excited</a:t>
            </a:r>
          </a:p>
          <a:p>
            <a:r>
              <a:t>P2 → 🪐 No gravity experience</a:t>
            </a:r>
          </a:p>
          <a:p>
            <a:r>
              <a:t>P3 → 👨🚀 Moonwalk</a:t>
            </a:r>
          </a:p>
          <a:p>
            <a:r>
              <a:t>P4 → ✨ Strange &amp; wonderful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82880"/>
            <a:ext cx="9144000" cy="274320"/>
          </a:xfrm>
          <a:prstGeom prst="rect">
            <a:avLst/>
          </a:prstGeom>
          <a:solidFill>
            <a:srgbClr val="3250B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Cause &amp; Effect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Cause: Why something happens.</a:t>
            </a:r>
          </a:p>
          <a:p>
            <a:r>
              <a:t>Effect: What happens.</a:t>
            </a:r>
          </a:p>
          <a:p>
            <a:r>
              <a:t>Conjunctions: because / so</a:t>
            </a:r>
          </a:p>
          <a:p>
            <a:r>
              <a:t>Example: I wear a spacesuit because there's no air.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82880"/>
            <a:ext cx="9144000" cy="274320"/>
          </a:xfrm>
          <a:prstGeom prst="rect">
            <a:avLst/>
          </a:prstGeom>
          <a:solidFill>
            <a:srgbClr val="3250B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Mission: Cause-Effect Chain!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Group work: find 3 cause-effect pairs.</a:t>
            </a:r>
          </a:p>
          <a:p>
            <a:r>
              <a:t>(Chain graphic placeholder)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82880"/>
            <a:ext cx="9144000" cy="274320"/>
          </a:xfrm>
          <a:prstGeom prst="rect">
            <a:avLst/>
          </a:prstGeom>
          <a:solidFill>
            <a:srgbClr val="3250B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True or False?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Show ✓ or ✗.</a:t>
            </a:r>
          </a:p>
          <a:p>
            <a:r>
              <a:t>F: Trip takes 5 days.</a:t>
            </a:r>
          </a:p>
          <a:p>
            <a:r>
              <a:t>F: Birds on Moon.</a:t>
            </a:r>
          </a:p>
          <a:p>
            <a:r>
              <a:t>T: Exercise needed.</a:t>
            </a:r>
          </a:p>
          <a:p>
            <a:r>
              <a:t>F: Sleep in beds.</a:t>
            </a:r>
          </a:p>
          <a:p>
            <a:r>
              <a:t>T: Many photos.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82880"/>
            <a:ext cx="9144000" cy="274320"/>
          </a:xfrm>
          <a:prstGeom prst="rect">
            <a:avLst/>
          </a:prstGeom>
          <a:solidFill>
            <a:srgbClr val="3250B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Message from the Moon!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Record a 30-second diary.</a:t>
            </a:r>
          </a:p>
          <a:p>
            <a:r>
              <a:t>• What do you see?</a:t>
            </a:r>
          </a:p>
          <a:p>
            <a:r>
              <a:t>• How do you feel?</a:t>
            </a:r>
          </a:p>
          <a:p>
            <a:r>
              <a:t>• What are you doing?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82880"/>
            <a:ext cx="9144000" cy="274320"/>
          </a:xfrm>
          <a:prstGeom prst="rect">
            <a:avLst/>
          </a:prstGeom>
          <a:solidFill>
            <a:srgbClr val="3250B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Think and Share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Why do humans explore the Moon?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82880"/>
            <a:ext cx="9144000" cy="274320"/>
          </a:xfrm>
          <a:prstGeom prst="rect">
            <a:avLst/>
          </a:prstGeom>
          <a:solidFill>
            <a:srgbClr val="3250B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Dream to the Stars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"Exploring the Moon is courage and dreams."</a:t>
            </a:r>
          </a:p>
          <a:p>
            <a:r>
              <a:t>"Your future is as limitless as the universe!"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82880"/>
            <a:ext cx="9144000" cy="274320"/>
          </a:xfrm>
          <a:prstGeom prst="rect">
            <a:avLst/>
          </a:prstGeom>
          <a:solidFill>
            <a:srgbClr val="3250B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Draw a poster: My Moon Base.</a:t>
            </a:r>
          </a:p>
          <a:p>
            <a:r>
              <a:t>Write 3 English sentences.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82880"/>
            <a:ext cx="9144000" cy="274320"/>
          </a:xfrm>
          <a:prstGeom prst="rect">
            <a:avLst/>
          </a:prstGeom>
          <a:solidFill>
            <a:srgbClr val="3250B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